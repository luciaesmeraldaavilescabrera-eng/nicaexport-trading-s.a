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Estado de operaciones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Operaciones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C2-40A0-A258-B82DF0962E74}"/>
              </c:ext>
            </c:extLst>
          </c:dPt>
          <c:dPt>
            <c:idx val="1"/>
            <c:invertIfNegative val="0"/>
            <c:bubble3D val="0"/>
            <c:spPr>
              <a:solidFill>
                <a:srgbClr val="A7BE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C2-40A0-A258-B82DF0962E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2E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Entregado / Embarcado</c:v>
                </c:pt>
                <c:pt idx="1">
                  <c:v>Pendiente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C2-40A0-A258-B82DF0962E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FOB (US$)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E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Costa Rica</c:v>
                </c:pt>
                <c:pt idx="1">
                  <c:v>Guatemala</c:v>
                </c:pt>
                <c:pt idx="2">
                  <c:v>México</c:v>
                </c:pt>
                <c:pt idx="3">
                  <c:v>España</c:v>
                </c:pt>
                <c:pt idx="4">
                  <c:v>EE.UU.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113544</c:v>
                </c:pt>
                <c:pt idx="1">
                  <c:v>119335</c:v>
                </c:pt>
                <c:pt idx="2">
                  <c:v>120313</c:v>
                </c:pt>
                <c:pt idx="3">
                  <c:v>136328</c:v>
                </c:pt>
                <c:pt idx="4">
                  <c:v>168745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FA-4C78-AD72-BC596F9651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Utilidad (US$)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E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Maní procesado</c:v>
                </c:pt>
                <c:pt idx="1">
                  <c:v>Cacao en grano</c:v>
                </c:pt>
                <c:pt idx="2">
                  <c:v>Miel natural</c:v>
                </c:pt>
                <c:pt idx="3">
                  <c:v>Aceite de ajonjolí</c:v>
                </c:pt>
                <c:pt idx="4">
                  <c:v>Café especial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33534</c:v>
                </c:pt>
                <c:pt idx="1">
                  <c:v>36800</c:v>
                </c:pt>
                <c:pt idx="2">
                  <c:v>38688</c:v>
                </c:pt>
                <c:pt idx="3">
                  <c:v>42218</c:v>
                </c:pt>
                <c:pt idx="4">
                  <c:v>62832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03-4900-ADD2-BF13075031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10-4AED-A330-DAE3C212AC7A}"/>
              </c:ext>
            </c:extLst>
          </c:dPt>
          <c:dPt>
            <c:idx val="1"/>
            <c:bubble3D val="0"/>
            <c:spPr>
              <a:solidFill>
                <a:srgbClr val="A7BE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10-4AED-A330-DAE3C212AC7A}"/>
              </c:ext>
            </c:extLst>
          </c:dPt>
          <c:dPt>
            <c:idx val="2"/>
            <c:bubble3D val="0"/>
            <c:spPr>
              <a:solidFill>
                <a:srgbClr val="E7E8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10-4AED-A330-DAE3C212AC7A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10-4AED-A330-DAE3C212AC7A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10-4AED-A330-DAE3C212AC7A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10-4AED-A330-DAE3C212AC7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Alta</c:v>
                </c:pt>
                <c:pt idx="1">
                  <c:v>Media</c:v>
                </c:pt>
                <c:pt idx="2">
                  <c:v>Baja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10-4AED-A330-DAE3C212A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2E2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663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A7BEA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AMERICANA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8D1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Arquitectura  ·  Negocios Internacionales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Gerencial de Comercio Internacional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3A3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NicaExport Trading, S.A.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4343400"/>
            <a:ext cx="2011680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operaciones de exportación agroindustrial — Primer semestre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análisis:  </a:t>
            </a: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 ·  Integrante 2  ·  Integrante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y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es una empresa nicaragüense dedicada a la exportación de productos agroindustriales hacia mercados internacionales.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analizado: enero – junio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502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Mercados de destino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1051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1051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0" y="17373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0" y="17373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análisis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3419856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264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mercados y productos más importantes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63440" y="40416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qué operaciones generan mayores ingresos y margen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63440" y="46634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45079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clientes y operaciones que requieren atención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63440" y="528523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51297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mercados deben recibir prioridad comercial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Informe Gerencial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operaciones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 del primer semestre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US$658,265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514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FOB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exportado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alta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150876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61120" y="2514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por estado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100 operaciones registradas, 85 se encuentran embarcadas o entregadas, mientras que 15 permanecen pendientes y requieren seguimiento gerencial inmediato para evitar retrasos en la cadena de exportación.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0" y="365760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Informe Gerencial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mercados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FOB por país de destino (US$)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63093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37160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22376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 — Líder en valor FOB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23760" y="18745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US$168,745 en exportaciones, con el mayor margen promedio (33.04%)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2971800"/>
            <a:ext cx="4754880" cy="1280160"/>
          </a:xfrm>
          <a:prstGeom prst="roundRect">
            <a:avLst>
              <a:gd name="adj" fmla="val 7143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23760" y="3090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 — Mayor volumen operativo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3429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operaciones, la mayor cantidad de cualquier país destino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4944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FOB por región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Norteamérica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41832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US$289,058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4944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Centroamérica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41832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US$232,879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949440" y="5614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418320" y="5614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US$136,328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Informe Gerencial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más importantes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total generada por producto (US$)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63093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37160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22376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Café especial — producto estrella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223760" y="1901952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26,180 unidades exportadas (el más vendido) y US$62,832 en utilidad — más del doble que cualquier otro producto.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de valor agregado agroindustrial —café, aceite y miel— superan a los commodities básicos en margen porcentual, confirmando que la diferenciación impulsa la rentabilidad.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5120640"/>
            <a:ext cx="4754880" cy="0"/>
          </a:xfrm>
          <a:prstGeom prst="line">
            <a:avLst/>
          </a:prstGeom>
          <a:noFill/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49440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A2E28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Tabla dinámica 2 — Utilidad por producto (Excel)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Informe Gerencial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Rentabilidad y operaciones prioritarias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prioridad comercial (SI + Y anidado)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5120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55448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09360" y="1645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772400" y="1645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con prioridad comercial Alta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269748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09360" y="2788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0" y="2788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con rentabilidad Alta (margen ≥ 30%)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84048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3931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33.04%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772400" y="3931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promedio en EE.UU., el mercado más rentable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0" y="50749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3A2E2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aplicada: mercado Estratégico + margen ≥30% → Alta · Estratégico + margen &lt;30% → Media · Potencial + margen ≥30% → Media · Potencial + margen &lt;30% → Baja.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Informe Gerencial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hallazgos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revelan los datos de operaciones de comercio internacional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13441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 lidera en valor y rentabilidad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28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valor FOB (US$168,745) y mayor margen promedio (33.04%): el mercado más sólido para la empresa.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39128" y="13441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especial es el motor comercial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39128" y="1737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28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más exportado (26,180 unidades) y de mayor utilidad (US$62,832), muy por encima del resto.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28986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Norteamérica concentra el mayor valor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5568" y="32918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28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US$289,058 en exportaciones, seguida por Centroamérica (US$232,879) y Europa (US$136,328).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971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39128" y="28986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 aporta volumen, no el mayor valor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39128" y="32918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28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operaciones —la mayor cantidad— pero su valor FOB (US$119,335) queda por debajo de EE.UU.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44531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clave concentran el valor exportado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15568" y="4846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28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Foods (EE.UU.) e Iberia Foods (España) son los clientes con mayor valor de exportación.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45262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39128" y="44531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operaciones requieren atención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39128" y="4846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2E28">
                    <a:alpha val="9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Permanecen en estado Pendiente y deben priorizarse para evitar retrasos en la cadena de exportación.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Informe Gerencial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2E2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B8504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confirma un negocio agroindustrial diversificado, con EE.UU. y el café especial como pilares de rentabilidad, y oportunidades claras de enfoque comercial.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3C2417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7685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28800" y="218541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la promoción del café especial en EE.UU.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2569464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producto de mayor utilidad (US$62,832) en el mercado de mayor valor FOB y margen (33.04%): la combinación de mayor retorno para la empresa.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3C2417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78561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828800" y="36941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relación comercial con Global Foods e Iberia Foods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828800" y="4078224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clientes con mayor valor de exportación; formalizar acuerdos de volumen con ellos asegura ingresos recurrentes de alto valor.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3C2417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529437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28800" y="520293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seguimiento prioritario a las 15 operaciones pendientes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828800" y="5586984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Concentradas en varios mercados, su atención inmediata reduce riesgo de incumplimiento y protege la relación con clientes estratégicos.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—  Equipo de análisis de negocios internacionales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827</Words>
  <Application>Microsoft Office PowerPoint</Application>
  <PresentationFormat>Panorámica</PresentationFormat>
  <Paragraphs>118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natalyflores0902@gmail.com</cp:lastModifiedBy>
  <cp:revision>1</cp:revision>
  <dcterms:created xsi:type="dcterms:W3CDTF">2026-09-17T03:54:19Z</dcterms:created>
  <dcterms:modified xsi:type="dcterms:W3CDTF">2026-09-17T04:03:25Z</dcterms:modified>
</cp:coreProperties>
</file>